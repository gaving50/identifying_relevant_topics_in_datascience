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4" r:id="rId2"/>
    <p:sldMasterId id="2147483666" r:id="rId3"/>
    <p:sldMasterId id="2147483668" r:id="rId4"/>
    <p:sldMasterId id="2147483670" r:id="rId5"/>
  </p:sldMasterIdLst>
  <p:sldIdLst>
    <p:sldId id="256" r:id="rId6"/>
  </p:sldIdLst>
  <p:sldSz cx="40233600" cy="40233600"/>
  <p:notesSz cx="7004050" cy="92900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672">
          <p15:clr>
            <a:srgbClr val="A4A3A4"/>
          </p15:clr>
        </p15:guide>
        <p15:guide id="2" pos="126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5345"/>
    <a:srgbClr val="B4C7E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68" autoAdjust="0"/>
    <p:restoredTop sz="94676" autoAdjust="0"/>
  </p:normalViewPr>
  <p:slideViewPr>
    <p:cSldViewPr>
      <p:cViewPr>
        <p:scale>
          <a:sx n="30" d="100"/>
          <a:sy n="30" d="100"/>
        </p:scale>
        <p:origin x="-440" y="-4880"/>
      </p:cViewPr>
      <p:guideLst>
        <p:guide orient="horz" pos="12672"/>
        <p:guide pos="12672"/>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5" Type="http://schemas.openxmlformats.org/officeDocument/2006/relationships/slideMaster" Target="slideMasters/slideMaster5.xml"/><Relationship Id="rId10"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6" name="Rectangle 15"/>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7" name="Rectangle 16"/>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8" name="Rectangle 17"/>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9" name="Instructions"/>
          <p:cNvSpPr/>
          <p:nvPr userDrawn="1"/>
        </p:nvSpPr>
        <p:spPr>
          <a:xfrm>
            <a:off x="-12573000" y="0"/>
            <a:ext cx="11734800" cy="4023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09535" tIns="209535" rIns="209535" bIns="20953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This poster template is 44” high by 44” wide. It can be used to print any poster with a 1:1 aspect ratio.</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00"/>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00"/>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20" name="Group 19"/>
          <p:cNvGrpSpPr/>
          <p:nvPr userDrawn="1"/>
        </p:nvGrpSpPr>
        <p:grpSpPr>
          <a:xfrm>
            <a:off x="41071800" y="0"/>
            <a:ext cx="11734800" cy="40233600"/>
            <a:chOff x="33832800" y="0"/>
            <a:chExt cx="12801600" cy="43891200"/>
          </a:xfrm>
        </p:grpSpPr>
        <p:sp>
          <p:nvSpPr>
            <p:cNvPr id="21"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333511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5" name="Rectangle 14"/>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6" name="Rectangle 15"/>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7" name="Rectangle 16"/>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8" name="Rectangle 17"/>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9" name="Instructions"/>
          <p:cNvSpPr/>
          <p:nvPr userDrawn="1"/>
        </p:nvSpPr>
        <p:spPr>
          <a:xfrm>
            <a:off x="-12573000" y="0"/>
            <a:ext cx="11734800" cy="4023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09535" tIns="209535" rIns="209535" bIns="20953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This poster template is 44” high by 44” wide. It can be used to print any poster with a 1:1 aspect ratio.</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00"/>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00"/>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20" name="Group 19"/>
          <p:cNvGrpSpPr/>
          <p:nvPr userDrawn="1"/>
        </p:nvGrpSpPr>
        <p:grpSpPr>
          <a:xfrm>
            <a:off x="41071800" y="0"/>
            <a:ext cx="11734800" cy="40233600"/>
            <a:chOff x="33832800" y="0"/>
            <a:chExt cx="12801600" cy="43891200"/>
          </a:xfrm>
        </p:grpSpPr>
        <p:sp>
          <p:nvSpPr>
            <p:cNvPr id="21"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1980089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5" name="Rectangle 14"/>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6" name="Rectangle 15"/>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7" name="Rectangle 16"/>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8" name="Rectangle 17"/>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9" name="Instructions"/>
          <p:cNvSpPr/>
          <p:nvPr userDrawn="1"/>
        </p:nvSpPr>
        <p:spPr>
          <a:xfrm>
            <a:off x="-12573000" y="0"/>
            <a:ext cx="11734800" cy="4023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09535" tIns="209535" rIns="209535" bIns="20953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This poster template is 44” high by 44” wide. It can be used to print any poster with a 1:1 aspect ratio.</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00"/>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00"/>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20" name="Group 19"/>
          <p:cNvGrpSpPr/>
          <p:nvPr userDrawn="1"/>
        </p:nvGrpSpPr>
        <p:grpSpPr>
          <a:xfrm>
            <a:off x="41071800" y="0"/>
            <a:ext cx="11734800" cy="40233600"/>
            <a:chOff x="33832800" y="0"/>
            <a:chExt cx="12801600" cy="43891200"/>
          </a:xfrm>
        </p:grpSpPr>
        <p:sp>
          <p:nvSpPr>
            <p:cNvPr id="21"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3452855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5" name="Rectangle 14"/>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6" name="Rectangle 15"/>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7" name="Rectangle 16"/>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8" name="Rectangle 17"/>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9" name="Instructions"/>
          <p:cNvSpPr/>
          <p:nvPr userDrawn="1"/>
        </p:nvSpPr>
        <p:spPr>
          <a:xfrm>
            <a:off x="-12573000" y="0"/>
            <a:ext cx="11734800" cy="4023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09535" tIns="209535" rIns="209535" bIns="20953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This poster template is 44” high by 44” wide. It can be used to print any poster with a 1:1 aspect ratio.</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00"/>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00"/>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20" name="Group 19"/>
          <p:cNvGrpSpPr/>
          <p:nvPr userDrawn="1"/>
        </p:nvGrpSpPr>
        <p:grpSpPr>
          <a:xfrm>
            <a:off x="41071800" y="0"/>
            <a:ext cx="11734800" cy="40233600"/>
            <a:chOff x="33832800" y="0"/>
            <a:chExt cx="12801600" cy="43891200"/>
          </a:xfrm>
        </p:grpSpPr>
        <p:sp>
          <p:nvSpPr>
            <p:cNvPr id="21"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3987741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5" name="Rectangle 14"/>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6" name="Rectangle 15"/>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7" name="Rectangle 16"/>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8" name="Rectangle 17"/>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9" name="Instructions"/>
          <p:cNvSpPr/>
          <p:nvPr userDrawn="1"/>
        </p:nvSpPr>
        <p:spPr>
          <a:xfrm>
            <a:off x="-12573000" y="0"/>
            <a:ext cx="11734800" cy="4023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09535" tIns="209535" rIns="209535" bIns="20953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This poster template </a:t>
            </a:r>
            <a:r>
              <a:rPr lang="en-US" sz="6000">
                <a:solidFill>
                  <a:srgbClr val="7F7F7F"/>
                </a:solidFill>
                <a:latin typeface="Calibri" pitchFamily="34" charset="0"/>
                <a:cs typeface="Calibri" panose="020F0502020204030204" pitchFamily="34" charset="0"/>
              </a:rPr>
              <a:t>is 44” </a:t>
            </a:r>
            <a:r>
              <a:rPr lang="en-US" sz="6000" dirty="0">
                <a:solidFill>
                  <a:srgbClr val="7F7F7F"/>
                </a:solidFill>
                <a:latin typeface="Calibri" pitchFamily="34" charset="0"/>
                <a:cs typeface="Calibri" panose="020F0502020204030204" pitchFamily="34" charset="0"/>
              </a:rPr>
              <a:t>high </a:t>
            </a:r>
            <a:r>
              <a:rPr lang="en-US" sz="6000">
                <a:solidFill>
                  <a:srgbClr val="7F7F7F"/>
                </a:solidFill>
                <a:latin typeface="Calibri" pitchFamily="34" charset="0"/>
                <a:cs typeface="Calibri" panose="020F0502020204030204" pitchFamily="34" charset="0"/>
              </a:rPr>
              <a:t>by 44” </a:t>
            </a:r>
            <a:r>
              <a:rPr lang="en-US" sz="6000" dirty="0">
                <a:solidFill>
                  <a:srgbClr val="7F7F7F"/>
                </a:solidFill>
                <a:latin typeface="Calibri" pitchFamily="34" charset="0"/>
                <a:cs typeface="Calibri" panose="020F0502020204030204" pitchFamily="34" charset="0"/>
              </a:rPr>
              <a:t>wide. It can be used to print any poster with a 1:1 aspect ratio.</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00"/>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00"/>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00"/>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00"/>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20" name="Group 19"/>
          <p:cNvGrpSpPr/>
          <p:nvPr userDrawn="1"/>
        </p:nvGrpSpPr>
        <p:grpSpPr>
          <a:xfrm>
            <a:off x="41071800" y="0"/>
            <a:ext cx="11734800" cy="40233600"/>
            <a:chOff x="33832800" y="0"/>
            <a:chExt cx="12801600" cy="43891200"/>
          </a:xfrm>
        </p:grpSpPr>
        <p:sp>
          <p:nvSpPr>
            <p:cNvPr id="21"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00"/>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00"/>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200"/>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12951660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42000"/>
          </a:schemeClr>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2766060" y="37290589"/>
            <a:ext cx="9052560" cy="2142067"/>
          </a:xfrm>
          <a:prstGeom prst="rect">
            <a:avLst/>
          </a:prstGeom>
        </p:spPr>
        <p:txBody>
          <a:bodyPr vert="horz" lIns="91440" tIns="45720" rIns="91440" bIns="45720" rtlCol="0" anchor="ctr"/>
          <a:lstStyle>
            <a:lvl1pPr algn="l">
              <a:defRPr sz="3960">
                <a:solidFill>
                  <a:schemeClr val="tx1">
                    <a:tint val="75000"/>
                  </a:schemeClr>
                </a:solidFill>
              </a:defRPr>
            </a:lvl1pPr>
          </a:lstStyle>
          <a:p>
            <a:fld id="{985D6BDF-9D0E-4E2B-85B8-D8F4790360C9}" type="datetimeFigureOut">
              <a:rPr lang="en-US" smtClean="0"/>
              <a:t>4/19/2024</a:t>
            </a:fld>
            <a:endParaRPr lang="en-US" dirty="0"/>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3327380" y="37290589"/>
            <a:ext cx="13578840" cy="2142067"/>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28414980" y="37290589"/>
            <a:ext cx="9052560" cy="2142067"/>
          </a:xfrm>
          <a:prstGeom prst="rect">
            <a:avLst/>
          </a:prstGeom>
        </p:spPr>
        <p:txBody>
          <a:bodyPr vert="horz" lIns="91440" tIns="45720" rIns="91440" bIns="45720" rtlCol="0" anchor="ctr"/>
          <a:lstStyle>
            <a:lvl1pPr algn="r">
              <a:defRPr sz="3960">
                <a:solidFill>
                  <a:schemeClr val="tx1">
                    <a:tint val="75000"/>
                  </a:schemeClr>
                </a:solidFill>
              </a:defRPr>
            </a:lvl1pPr>
          </a:lstStyle>
          <a:p>
            <a:fld id="{FBB075EA-769C-4ECD-B48E-D6FCDC24F876}" type="slidenum">
              <a:rPr lang="en-US" smtClean="0"/>
              <a:t>‹#›</a:t>
            </a:fld>
            <a:endParaRPr lang="en-US" dirty="0"/>
          </a:p>
        </p:txBody>
      </p:sp>
      <p:sp>
        <p:nvSpPr>
          <p:cNvPr id="7" name="Rectangle 6">
            <a:extLst>
              <a:ext uri="{FF2B5EF4-FFF2-40B4-BE49-F238E27FC236}">
                <a16:creationId xmlns:a16="http://schemas.microsoft.com/office/drawing/2014/main" id="{60A68064-2507-404D-9A81-C74102816DA2}"/>
              </a:ext>
            </a:extLst>
          </p:cNvPr>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8" name="Rectangle 7">
            <a:extLst>
              <a:ext uri="{FF2B5EF4-FFF2-40B4-BE49-F238E27FC236}">
                <a16:creationId xmlns:a16="http://schemas.microsoft.com/office/drawing/2014/main" id="{9BC1B367-8F2F-42F1-A4C8-AE84FEE963AF}"/>
              </a:ext>
            </a:extLst>
          </p:cNvPr>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9" name="Rectangle 8">
            <a:extLst>
              <a:ext uri="{FF2B5EF4-FFF2-40B4-BE49-F238E27FC236}">
                <a16:creationId xmlns:a16="http://schemas.microsoft.com/office/drawing/2014/main" id="{24BECD53-E316-4532-9861-F6665E7410FA}"/>
              </a:ext>
            </a:extLst>
          </p:cNvPr>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0" name="Rectangle 9">
            <a:extLst>
              <a:ext uri="{FF2B5EF4-FFF2-40B4-BE49-F238E27FC236}">
                <a16:creationId xmlns:a16="http://schemas.microsoft.com/office/drawing/2014/main" id="{55B4DCB2-0C83-4D58-A9D4-17DE7CB53F43}"/>
              </a:ext>
            </a:extLst>
          </p:cNvPr>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pic>
        <p:nvPicPr>
          <p:cNvPr id="11" name="Picture 10">
            <a:extLst>
              <a:ext uri="{FF2B5EF4-FFF2-40B4-BE49-F238E27FC236}">
                <a16:creationId xmlns:a16="http://schemas.microsoft.com/office/drawing/2014/main" id="{21DCC2F1-7340-4D10-8817-A617B838FD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3000165996"/>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2766060" y="37290589"/>
            <a:ext cx="9052560" cy="2142067"/>
          </a:xfrm>
          <a:prstGeom prst="rect">
            <a:avLst/>
          </a:prstGeom>
        </p:spPr>
        <p:txBody>
          <a:bodyPr vert="horz" lIns="91440" tIns="45720" rIns="91440" bIns="45720" rtlCol="0" anchor="ctr"/>
          <a:lstStyle>
            <a:lvl1pPr algn="l">
              <a:defRPr sz="3960">
                <a:solidFill>
                  <a:schemeClr val="tx1">
                    <a:tint val="75000"/>
                  </a:schemeClr>
                </a:solidFill>
              </a:defRPr>
            </a:lvl1pPr>
          </a:lstStyle>
          <a:p>
            <a:fld id="{985D6BDF-9D0E-4E2B-85B8-D8F4790360C9}" type="datetimeFigureOut">
              <a:rPr lang="en-US" smtClean="0"/>
              <a:t>4/19/2024</a:t>
            </a:fld>
            <a:endParaRPr lang="en-US" dirty="0"/>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3327380" y="37290589"/>
            <a:ext cx="13578840" cy="2142067"/>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28414980" y="37290589"/>
            <a:ext cx="9052560" cy="2142067"/>
          </a:xfrm>
          <a:prstGeom prst="rect">
            <a:avLst/>
          </a:prstGeom>
        </p:spPr>
        <p:txBody>
          <a:bodyPr vert="horz" lIns="91440" tIns="45720" rIns="91440" bIns="45720" rtlCol="0" anchor="ctr"/>
          <a:lstStyle>
            <a:lvl1pPr algn="r">
              <a:defRPr sz="3960">
                <a:solidFill>
                  <a:schemeClr val="tx1">
                    <a:tint val="75000"/>
                  </a:schemeClr>
                </a:solidFill>
              </a:defRPr>
            </a:lvl1pPr>
          </a:lstStyle>
          <a:p>
            <a:fld id="{FBB075EA-769C-4ECD-B48E-D6FCDC24F876}" type="slidenum">
              <a:rPr lang="en-US" smtClean="0"/>
              <a:t>‹#›</a:t>
            </a:fld>
            <a:endParaRPr lang="en-US" dirty="0"/>
          </a:p>
        </p:txBody>
      </p:sp>
      <p:sp>
        <p:nvSpPr>
          <p:cNvPr id="7" name="Rectangle 6">
            <a:extLst>
              <a:ext uri="{FF2B5EF4-FFF2-40B4-BE49-F238E27FC236}">
                <a16:creationId xmlns:a16="http://schemas.microsoft.com/office/drawing/2014/main" id="{60A68064-2507-404D-9A81-C74102816DA2}"/>
              </a:ext>
            </a:extLst>
          </p:cNvPr>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8" name="Rectangle 7">
            <a:extLst>
              <a:ext uri="{FF2B5EF4-FFF2-40B4-BE49-F238E27FC236}">
                <a16:creationId xmlns:a16="http://schemas.microsoft.com/office/drawing/2014/main" id="{9BC1B367-8F2F-42F1-A4C8-AE84FEE963AF}"/>
              </a:ext>
            </a:extLst>
          </p:cNvPr>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9" name="Rectangle 8">
            <a:extLst>
              <a:ext uri="{FF2B5EF4-FFF2-40B4-BE49-F238E27FC236}">
                <a16:creationId xmlns:a16="http://schemas.microsoft.com/office/drawing/2014/main" id="{24BECD53-E316-4532-9861-F6665E7410FA}"/>
              </a:ext>
            </a:extLst>
          </p:cNvPr>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0" name="Rectangle 9">
            <a:extLst>
              <a:ext uri="{FF2B5EF4-FFF2-40B4-BE49-F238E27FC236}">
                <a16:creationId xmlns:a16="http://schemas.microsoft.com/office/drawing/2014/main" id="{55B4DCB2-0C83-4D58-A9D4-17DE7CB53F43}"/>
              </a:ext>
            </a:extLst>
          </p:cNvPr>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pic>
        <p:nvPicPr>
          <p:cNvPr id="11" name="Picture 10">
            <a:extLst>
              <a:ext uri="{FF2B5EF4-FFF2-40B4-BE49-F238E27FC236}">
                <a16:creationId xmlns:a16="http://schemas.microsoft.com/office/drawing/2014/main" id="{21DCC2F1-7340-4D10-8817-A617B838FD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3859652148"/>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2766060" y="37290589"/>
            <a:ext cx="9052560" cy="2142067"/>
          </a:xfrm>
          <a:prstGeom prst="rect">
            <a:avLst/>
          </a:prstGeom>
        </p:spPr>
        <p:txBody>
          <a:bodyPr vert="horz" lIns="91440" tIns="45720" rIns="91440" bIns="45720" rtlCol="0" anchor="ctr"/>
          <a:lstStyle>
            <a:lvl1pPr algn="l">
              <a:defRPr sz="3960">
                <a:solidFill>
                  <a:schemeClr val="tx1">
                    <a:tint val="75000"/>
                  </a:schemeClr>
                </a:solidFill>
              </a:defRPr>
            </a:lvl1pPr>
          </a:lstStyle>
          <a:p>
            <a:fld id="{985D6BDF-9D0E-4E2B-85B8-D8F4790360C9}" type="datetimeFigureOut">
              <a:rPr lang="en-US" smtClean="0"/>
              <a:t>4/19/2024</a:t>
            </a:fld>
            <a:endParaRPr lang="en-US" dirty="0"/>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3327380" y="37290589"/>
            <a:ext cx="13578840" cy="2142067"/>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28414980" y="37290589"/>
            <a:ext cx="9052560" cy="2142067"/>
          </a:xfrm>
          <a:prstGeom prst="rect">
            <a:avLst/>
          </a:prstGeom>
        </p:spPr>
        <p:txBody>
          <a:bodyPr vert="horz" lIns="91440" tIns="45720" rIns="91440" bIns="45720" rtlCol="0" anchor="ctr"/>
          <a:lstStyle>
            <a:lvl1pPr algn="r">
              <a:defRPr sz="3960">
                <a:solidFill>
                  <a:schemeClr val="tx1">
                    <a:tint val="75000"/>
                  </a:schemeClr>
                </a:solidFill>
              </a:defRPr>
            </a:lvl1pPr>
          </a:lstStyle>
          <a:p>
            <a:fld id="{FBB075EA-769C-4ECD-B48E-D6FCDC24F876}" type="slidenum">
              <a:rPr lang="en-US" smtClean="0"/>
              <a:t>‹#›</a:t>
            </a:fld>
            <a:endParaRPr lang="en-US" dirty="0"/>
          </a:p>
        </p:txBody>
      </p:sp>
      <p:sp>
        <p:nvSpPr>
          <p:cNvPr id="7" name="Rectangle 6">
            <a:extLst>
              <a:ext uri="{FF2B5EF4-FFF2-40B4-BE49-F238E27FC236}">
                <a16:creationId xmlns:a16="http://schemas.microsoft.com/office/drawing/2014/main" id="{60A68064-2507-404D-9A81-C74102816DA2}"/>
              </a:ext>
            </a:extLst>
          </p:cNvPr>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8" name="Rectangle 7">
            <a:extLst>
              <a:ext uri="{FF2B5EF4-FFF2-40B4-BE49-F238E27FC236}">
                <a16:creationId xmlns:a16="http://schemas.microsoft.com/office/drawing/2014/main" id="{9BC1B367-8F2F-42F1-A4C8-AE84FEE963AF}"/>
              </a:ext>
            </a:extLst>
          </p:cNvPr>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9" name="Rectangle 8">
            <a:extLst>
              <a:ext uri="{FF2B5EF4-FFF2-40B4-BE49-F238E27FC236}">
                <a16:creationId xmlns:a16="http://schemas.microsoft.com/office/drawing/2014/main" id="{24BECD53-E316-4532-9861-F6665E7410FA}"/>
              </a:ext>
            </a:extLst>
          </p:cNvPr>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0" name="Rectangle 9">
            <a:extLst>
              <a:ext uri="{FF2B5EF4-FFF2-40B4-BE49-F238E27FC236}">
                <a16:creationId xmlns:a16="http://schemas.microsoft.com/office/drawing/2014/main" id="{55B4DCB2-0C83-4D58-A9D4-17DE7CB53F43}"/>
              </a:ext>
            </a:extLst>
          </p:cNvPr>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pic>
        <p:nvPicPr>
          <p:cNvPr id="11" name="Picture 10">
            <a:extLst>
              <a:ext uri="{FF2B5EF4-FFF2-40B4-BE49-F238E27FC236}">
                <a16:creationId xmlns:a16="http://schemas.microsoft.com/office/drawing/2014/main" id="{21DCC2F1-7340-4D10-8817-A617B838FD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35089854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2766060" y="37290589"/>
            <a:ext cx="9052560" cy="2142067"/>
          </a:xfrm>
          <a:prstGeom prst="rect">
            <a:avLst/>
          </a:prstGeom>
        </p:spPr>
        <p:txBody>
          <a:bodyPr vert="horz" lIns="91440" tIns="45720" rIns="91440" bIns="45720" rtlCol="0" anchor="ctr"/>
          <a:lstStyle>
            <a:lvl1pPr algn="l">
              <a:defRPr sz="3960">
                <a:solidFill>
                  <a:schemeClr val="tx1">
                    <a:tint val="75000"/>
                  </a:schemeClr>
                </a:solidFill>
              </a:defRPr>
            </a:lvl1pPr>
          </a:lstStyle>
          <a:p>
            <a:fld id="{985D6BDF-9D0E-4E2B-85B8-D8F4790360C9}" type="datetimeFigureOut">
              <a:rPr lang="en-US" smtClean="0"/>
              <a:t>4/19/2024</a:t>
            </a:fld>
            <a:endParaRPr lang="en-US" dirty="0"/>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3327380" y="37290589"/>
            <a:ext cx="13578840" cy="2142067"/>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28414980" y="37290589"/>
            <a:ext cx="9052560" cy="2142067"/>
          </a:xfrm>
          <a:prstGeom prst="rect">
            <a:avLst/>
          </a:prstGeom>
        </p:spPr>
        <p:txBody>
          <a:bodyPr vert="horz" lIns="91440" tIns="45720" rIns="91440" bIns="45720" rtlCol="0" anchor="ctr"/>
          <a:lstStyle>
            <a:lvl1pPr algn="r">
              <a:defRPr sz="3960">
                <a:solidFill>
                  <a:schemeClr val="tx1">
                    <a:tint val="75000"/>
                  </a:schemeClr>
                </a:solidFill>
              </a:defRPr>
            </a:lvl1pPr>
          </a:lstStyle>
          <a:p>
            <a:fld id="{FBB075EA-769C-4ECD-B48E-D6FCDC24F876}" type="slidenum">
              <a:rPr lang="en-US" smtClean="0"/>
              <a:t>‹#›</a:t>
            </a:fld>
            <a:endParaRPr lang="en-US" dirty="0"/>
          </a:p>
        </p:txBody>
      </p:sp>
      <p:sp>
        <p:nvSpPr>
          <p:cNvPr id="7" name="Rectangle 6">
            <a:extLst>
              <a:ext uri="{FF2B5EF4-FFF2-40B4-BE49-F238E27FC236}">
                <a16:creationId xmlns:a16="http://schemas.microsoft.com/office/drawing/2014/main" id="{60A68064-2507-404D-9A81-C74102816DA2}"/>
              </a:ext>
            </a:extLst>
          </p:cNvPr>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8" name="Rectangle 7">
            <a:extLst>
              <a:ext uri="{FF2B5EF4-FFF2-40B4-BE49-F238E27FC236}">
                <a16:creationId xmlns:a16="http://schemas.microsoft.com/office/drawing/2014/main" id="{9BC1B367-8F2F-42F1-A4C8-AE84FEE963AF}"/>
              </a:ext>
            </a:extLst>
          </p:cNvPr>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9" name="Rectangle 8">
            <a:extLst>
              <a:ext uri="{FF2B5EF4-FFF2-40B4-BE49-F238E27FC236}">
                <a16:creationId xmlns:a16="http://schemas.microsoft.com/office/drawing/2014/main" id="{24BECD53-E316-4532-9861-F6665E7410FA}"/>
              </a:ext>
            </a:extLst>
          </p:cNvPr>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0" name="Rectangle 9">
            <a:extLst>
              <a:ext uri="{FF2B5EF4-FFF2-40B4-BE49-F238E27FC236}">
                <a16:creationId xmlns:a16="http://schemas.microsoft.com/office/drawing/2014/main" id="{55B4DCB2-0C83-4D58-A9D4-17DE7CB53F43}"/>
              </a:ext>
            </a:extLst>
          </p:cNvPr>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pic>
        <p:nvPicPr>
          <p:cNvPr id="11" name="Picture 10">
            <a:extLst>
              <a:ext uri="{FF2B5EF4-FFF2-40B4-BE49-F238E27FC236}">
                <a16:creationId xmlns:a16="http://schemas.microsoft.com/office/drawing/2014/main" id="{21DCC2F1-7340-4D10-8817-A617B838FD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2227102377"/>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2766060" y="37290589"/>
            <a:ext cx="9052560" cy="2142067"/>
          </a:xfrm>
          <a:prstGeom prst="rect">
            <a:avLst/>
          </a:prstGeom>
        </p:spPr>
        <p:txBody>
          <a:bodyPr vert="horz" lIns="91440" tIns="45720" rIns="91440" bIns="45720" rtlCol="0" anchor="ctr"/>
          <a:lstStyle>
            <a:lvl1pPr algn="l">
              <a:defRPr sz="3960">
                <a:solidFill>
                  <a:schemeClr val="tx1">
                    <a:tint val="75000"/>
                  </a:schemeClr>
                </a:solidFill>
              </a:defRPr>
            </a:lvl1pPr>
          </a:lstStyle>
          <a:p>
            <a:fld id="{985D6BDF-9D0E-4E2B-85B8-D8F4790360C9}" type="datetimeFigureOut">
              <a:rPr lang="en-US" smtClean="0"/>
              <a:t>4/19/2024</a:t>
            </a:fld>
            <a:endParaRPr lang="en-US" dirty="0"/>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3327380" y="37290589"/>
            <a:ext cx="13578840" cy="2142067"/>
          </a:xfrm>
          <a:prstGeom prst="rect">
            <a:avLst/>
          </a:prstGeom>
        </p:spPr>
        <p:txBody>
          <a:bodyPr vert="horz" lIns="91440" tIns="45720" rIns="91440" bIns="45720" rtlCol="0" anchor="ctr"/>
          <a:lstStyle>
            <a:lvl1pPr algn="ctr">
              <a:defRPr sz="396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28414980" y="37290589"/>
            <a:ext cx="9052560" cy="2142067"/>
          </a:xfrm>
          <a:prstGeom prst="rect">
            <a:avLst/>
          </a:prstGeom>
        </p:spPr>
        <p:txBody>
          <a:bodyPr vert="horz" lIns="91440" tIns="45720" rIns="91440" bIns="45720" rtlCol="0" anchor="ctr"/>
          <a:lstStyle>
            <a:lvl1pPr algn="r">
              <a:defRPr sz="3960">
                <a:solidFill>
                  <a:schemeClr val="tx1">
                    <a:tint val="75000"/>
                  </a:schemeClr>
                </a:solidFill>
              </a:defRPr>
            </a:lvl1pPr>
          </a:lstStyle>
          <a:p>
            <a:fld id="{FBB075EA-769C-4ECD-B48E-D6FCDC24F876}" type="slidenum">
              <a:rPr lang="en-US" smtClean="0"/>
              <a:t>‹#›</a:t>
            </a:fld>
            <a:endParaRPr lang="en-US" dirty="0"/>
          </a:p>
        </p:txBody>
      </p:sp>
      <p:sp>
        <p:nvSpPr>
          <p:cNvPr id="7" name="Rectangle 6">
            <a:extLst>
              <a:ext uri="{FF2B5EF4-FFF2-40B4-BE49-F238E27FC236}">
                <a16:creationId xmlns:a16="http://schemas.microsoft.com/office/drawing/2014/main" id="{60A68064-2507-404D-9A81-C74102816DA2}"/>
              </a:ext>
            </a:extLst>
          </p:cNvPr>
          <p:cNvSpPr/>
          <p:nvPr userDrawn="1"/>
        </p:nvSpPr>
        <p:spPr>
          <a:xfrm>
            <a:off x="395020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8" name="Rectangle 7">
            <a:extLst>
              <a:ext uri="{FF2B5EF4-FFF2-40B4-BE49-F238E27FC236}">
                <a16:creationId xmlns:a16="http://schemas.microsoft.com/office/drawing/2014/main" id="{9BC1B367-8F2F-42F1-A4C8-AE84FEE963AF}"/>
              </a:ext>
            </a:extLst>
          </p:cNvPr>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9" name="Rectangle 8">
            <a:extLst>
              <a:ext uri="{FF2B5EF4-FFF2-40B4-BE49-F238E27FC236}">
                <a16:creationId xmlns:a16="http://schemas.microsoft.com/office/drawing/2014/main" id="{24BECD53-E316-4532-9861-F6665E7410FA}"/>
              </a:ext>
            </a:extLst>
          </p:cNvPr>
          <p:cNvSpPr/>
          <p:nvPr userDrawn="1"/>
        </p:nvSpPr>
        <p:spPr>
          <a:xfrm>
            <a:off x="0" y="0"/>
            <a:ext cx="40233600" cy="502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sp>
        <p:nvSpPr>
          <p:cNvPr id="10" name="Rectangle 9">
            <a:extLst>
              <a:ext uri="{FF2B5EF4-FFF2-40B4-BE49-F238E27FC236}">
                <a16:creationId xmlns:a16="http://schemas.microsoft.com/office/drawing/2014/main" id="{55B4DCB2-0C83-4D58-A9D4-17DE7CB53F43}"/>
              </a:ext>
            </a:extLst>
          </p:cNvPr>
          <p:cNvSpPr/>
          <p:nvPr userDrawn="1"/>
        </p:nvSpPr>
        <p:spPr>
          <a:xfrm>
            <a:off x="0" y="35204400"/>
            <a:ext cx="40233600" cy="5029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endParaRPr lang="en-US" dirty="0"/>
          </a:p>
        </p:txBody>
      </p:sp>
      <p:pic>
        <p:nvPicPr>
          <p:cNvPr id="11" name="Picture 10">
            <a:extLst>
              <a:ext uri="{FF2B5EF4-FFF2-40B4-BE49-F238E27FC236}">
                <a16:creationId xmlns:a16="http://schemas.microsoft.com/office/drawing/2014/main" id="{21DCC2F1-7340-4D10-8817-A617B838FD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747200" y="39928800"/>
            <a:ext cx="5297435" cy="185928"/>
          </a:xfrm>
          <a:prstGeom prst="rect">
            <a:avLst/>
          </a:prstGeom>
        </p:spPr>
      </p:pic>
    </p:spTree>
    <p:extLst>
      <p:ext uri="{BB962C8B-B14F-4D97-AF65-F5344CB8AC3E}">
        <p14:creationId xmlns:p14="http://schemas.microsoft.com/office/powerpoint/2010/main" val="1519337259"/>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3017520" rtl="0" eaLnBrk="1" latinLnBrk="0" hangingPunct="1">
        <a:lnSpc>
          <a:spcPct val="90000"/>
        </a:lnSpc>
        <a:spcBef>
          <a:spcPct val="0"/>
        </a:spcBef>
        <a:buNone/>
        <a:defRPr sz="14520" kern="1200">
          <a:solidFill>
            <a:schemeClr val="tx1"/>
          </a:solidFill>
          <a:latin typeface="+mj-lt"/>
          <a:ea typeface="+mj-ea"/>
          <a:cs typeface="+mj-cs"/>
        </a:defRPr>
      </a:lvl1pPr>
    </p:titleStyle>
    <p:bodyStyle>
      <a:lvl1pPr marL="754380" indent="-754380" algn="l" defTabSz="3017520" rtl="0" eaLnBrk="1" latinLnBrk="0" hangingPunct="1">
        <a:lnSpc>
          <a:spcPct val="90000"/>
        </a:lnSpc>
        <a:spcBef>
          <a:spcPts val="3300"/>
        </a:spcBef>
        <a:buFont typeface="Arial" panose="020B0604020202020204" pitchFamily="34" charset="0"/>
        <a:buChar char="•"/>
        <a:defRPr sz="9240" kern="1200">
          <a:solidFill>
            <a:schemeClr val="tx1"/>
          </a:solidFill>
          <a:latin typeface="+mn-lt"/>
          <a:ea typeface="+mn-ea"/>
          <a:cs typeface="+mn-cs"/>
        </a:defRPr>
      </a:lvl1pPr>
      <a:lvl2pPr marL="2263140" indent="-754380" algn="l" defTabSz="3017520" rtl="0" eaLnBrk="1" latinLnBrk="0" hangingPunct="1">
        <a:lnSpc>
          <a:spcPct val="90000"/>
        </a:lnSpc>
        <a:spcBef>
          <a:spcPts val="1650"/>
        </a:spcBef>
        <a:buFont typeface="Arial" panose="020B0604020202020204" pitchFamily="34" charset="0"/>
        <a:buChar char="•"/>
        <a:defRPr sz="7920" kern="1200">
          <a:solidFill>
            <a:schemeClr val="tx1"/>
          </a:solidFill>
          <a:latin typeface="+mn-lt"/>
          <a:ea typeface="+mn-ea"/>
          <a:cs typeface="+mn-cs"/>
        </a:defRPr>
      </a:lvl2pPr>
      <a:lvl3pPr marL="3771900" indent="-754380" algn="l" defTabSz="3017520" rtl="0" eaLnBrk="1" latinLnBrk="0" hangingPunct="1">
        <a:lnSpc>
          <a:spcPct val="90000"/>
        </a:lnSpc>
        <a:spcBef>
          <a:spcPts val="1650"/>
        </a:spcBef>
        <a:buFont typeface="Arial" panose="020B0604020202020204" pitchFamily="34" charset="0"/>
        <a:buChar char="•"/>
        <a:defRPr sz="6600" kern="1200">
          <a:solidFill>
            <a:schemeClr val="tx1"/>
          </a:solidFill>
          <a:latin typeface="+mn-lt"/>
          <a:ea typeface="+mn-ea"/>
          <a:cs typeface="+mn-cs"/>
        </a:defRPr>
      </a:lvl3pPr>
      <a:lvl4pPr marL="52806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4pPr>
      <a:lvl5pPr marL="678942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5pPr>
      <a:lvl6pPr marL="829818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6pPr>
      <a:lvl7pPr marL="980694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7pPr>
      <a:lvl8pPr marL="1131570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8pPr>
      <a:lvl9pPr marL="12824460" indent="-754380" algn="l" defTabSz="3017520" rtl="0" eaLnBrk="1" latinLnBrk="0" hangingPunct="1">
        <a:lnSpc>
          <a:spcPct val="90000"/>
        </a:lnSpc>
        <a:spcBef>
          <a:spcPts val="1650"/>
        </a:spcBef>
        <a:buFont typeface="Arial" panose="020B0604020202020204" pitchFamily="34" charset="0"/>
        <a:buChar char="•"/>
        <a:defRPr sz="5940" kern="1200">
          <a:solidFill>
            <a:schemeClr val="tx1"/>
          </a:solidFill>
          <a:latin typeface="+mn-lt"/>
          <a:ea typeface="+mn-ea"/>
          <a:cs typeface="+mn-cs"/>
        </a:defRPr>
      </a:lvl9pPr>
    </p:bodyStyle>
    <p:otherStyle>
      <a:defPPr>
        <a:defRPr lang="en-US"/>
      </a:defPPr>
      <a:lvl1pPr marL="0" algn="l" defTabSz="3017520" rtl="0" eaLnBrk="1" latinLnBrk="0" hangingPunct="1">
        <a:defRPr sz="5940" kern="1200">
          <a:solidFill>
            <a:schemeClr val="tx1"/>
          </a:solidFill>
          <a:latin typeface="+mn-lt"/>
          <a:ea typeface="+mn-ea"/>
          <a:cs typeface="+mn-cs"/>
        </a:defRPr>
      </a:lvl1pPr>
      <a:lvl2pPr marL="1508760" algn="l" defTabSz="3017520" rtl="0" eaLnBrk="1" latinLnBrk="0" hangingPunct="1">
        <a:defRPr sz="5940" kern="1200">
          <a:solidFill>
            <a:schemeClr val="tx1"/>
          </a:solidFill>
          <a:latin typeface="+mn-lt"/>
          <a:ea typeface="+mn-ea"/>
          <a:cs typeface="+mn-cs"/>
        </a:defRPr>
      </a:lvl2pPr>
      <a:lvl3pPr marL="3017520" algn="l" defTabSz="3017520" rtl="0" eaLnBrk="1" latinLnBrk="0" hangingPunct="1">
        <a:defRPr sz="5940" kern="1200">
          <a:solidFill>
            <a:schemeClr val="tx1"/>
          </a:solidFill>
          <a:latin typeface="+mn-lt"/>
          <a:ea typeface="+mn-ea"/>
          <a:cs typeface="+mn-cs"/>
        </a:defRPr>
      </a:lvl3pPr>
      <a:lvl4pPr marL="4526280" algn="l" defTabSz="3017520" rtl="0" eaLnBrk="1" latinLnBrk="0" hangingPunct="1">
        <a:defRPr sz="5940" kern="1200">
          <a:solidFill>
            <a:schemeClr val="tx1"/>
          </a:solidFill>
          <a:latin typeface="+mn-lt"/>
          <a:ea typeface="+mn-ea"/>
          <a:cs typeface="+mn-cs"/>
        </a:defRPr>
      </a:lvl4pPr>
      <a:lvl5pPr marL="6035040" algn="l" defTabSz="3017520" rtl="0" eaLnBrk="1" latinLnBrk="0" hangingPunct="1">
        <a:defRPr sz="5940" kern="1200">
          <a:solidFill>
            <a:schemeClr val="tx1"/>
          </a:solidFill>
          <a:latin typeface="+mn-lt"/>
          <a:ea typeface="+mn-ea"/>
          <a:cs typeface="+mn-cs"/>
        </a:defRPr>
      </a:lvl5pPr>
      <a:lvl6pPr marL="7543800" algn="l" defTabSz="3017520" rtl="0" eaLnBrk="1" latinLnBrk="0" hangingPunct="1">
        <a:defRPr sz="5940" kern="1200">
          <a:solidFill>
            <a:schemeClr val="tx1"/>
          </a:solidFill>
          <a:latin typeface="+mn-lt"/>
          <a:ea typeface="+mn-ea"/>
          <a:cs typeface="+mn-cs"/>
        </a:defRPr>
      </a:lvl6pPr>
      <a:lvl7pPr marL="9052560" algn="l" defTabSz="3017520" rtl="0" eaLnBrk="1" latinLnBrk="0" hangingPunct="1">
        <a:defRPr sz="5940" kern="1200">
          <a:solidFill>
            <a:schemeClr val="tx1"/>
          </a:solidFill>
          <a:latin typeface="+mn-lt"/>
          <a:ea typeface="+mn-ea"/>
          <a:cs typeface="+mn-cs"/>
        </a:defRPr>
      </a:lvl7pPr>
      <a:lvl8pPr marL="10561320" algn="l" defTabSz="3017520" rtl="0" eaLnBrk="1" latinLnBrk="0" hangingPunct="1">
        <a:defRPr sz="5940" kern="1200">
          <a:solidFill>
            <a:schemeClr val="tx1"/>
          </a:solidFill>
          <a:latin typeface="+mn-lt"/>
          <a:ea typeface="+mn-ea"/>
          <a:cs typeface="+mn-cs"/>
        </a:defRPr>
      </a:lvl8pPr>
      <a:lvl9pPr marL="12070080" algn="l" defTabSz="3017520" rtl="0" eaLnBrk="1" latinLnBrk="0" hangingPunct="1">
        <a:defRPr sz="59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54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6705600" y="625842"/>
            <a:ext cx="26822400" cy="2077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67628" tIns="419070" rIns="167628" bIns="419070"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8000" b="1" dirty="0">
                <a:solidFill>
                  <a:schemeClr val="accent3">
                    <a:lumMod val="20000"/>
                    <a:lumOff val="80000"/>
                  </a:schemeClr>
                </a:solidFill>
                <a:latin typeface="+mn-lt"/>
              </a:rPr>
              <a:t>Identifying Relevant topics in Data Science</a:t>
            </a:r>
          </a:p>
        </p:txBody>
      </p:sp>
      <p:sp>
        <p:nvSpPr>
          <p:cNvPr id="5" name="Text Box 123"/>
          <p:cNvSpPr txBox="1">
            <a:spLocks noChangeArrowheads="1"/>
          </p:cNvSpPr>
          <p:nvPr/>
        </p:nvSpPr>
        <p:spPr bwMode="auto">
          <a:xfrm>
            <a:off x="6705600" y="2933700"/>
            <a:ext cx="2682240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67628" tIns="167628" rIns="167628" bIns="167628"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800" dirty="0">
                <a:solidFill>
                  <a:schemeClr val="accent3">
                    <a:lumMod val="20000"/>
                    <a:lumOff val="80000"/>
                  </a:schemeClr>
                </a:solidFill>
                <a:latin typeface="+mn-lt"/>
              </a:rPr>
              <a:t>Gavin Gray, Zach Beck, Dr. Richa Sharma</a:t>
            </a:r>
            <a:endParaRPr lang="en-US" sz="4800" baseline="30000" dirty="0">
              <a:solidFill>
                <a:schemeClr val="accent3">
                  <a:lumMod val="20000"/>
                  <a:lumOff val="80000"/>
                </a:schemeClr>
              </a:solidFill>
              <a:latin typeface="+mn-lt"/>
            </a:endParaRPr>
          </a:p>
          <a:p>
            <a:pPr algn="ctr" eaLnBrk="1" hangingPunct="1"/>
            <a:r>
              <a:rPr lang="en-US" sz="4800" dirty="0">
                <a:solidFill>
                  <a:schemeClr val="accent3">
                    <a:lumMod val="20000"/>
                    <a:lumOff val="80000"/>
                  </a:schemeClr>
                </a:solidFill>
                <a:latin typeface="+mn-lt"/>
              </a:rPr>
              <a:t>Department of Mathematics, Computer Science &amp; Digital Forensics, Commonwealth University</a:t>
            </a:r>
          </a:p>
        </p:txBody>
      </p:sp>
      <p:sp>
        <p:nvSpPr>
          <p:cNvPr id="27" name="TextBox 26"/>
          <p:cNvSpPr txBox="1"/>
          <p:nvPr/>
        </p:nvSpPr>
        <p:spPr>
          <a:xfrm>
            <a:off x="26883360" y="35873576"/>
            <a:ext cx="3382310" cy="931024"/>
          </a:xfrm>
          <a:prstGeom prst="rect">
            <a:avLst/>
          </a:prstGeom>
          <a:noFill/>
        </p:spPr>
        <p:txBody>
          <a:bodyPr wrap="none" lIns="83814" tIns="41907" rIns="83814" bIns="41907" rtlCol="0">
            <a:spAutoFit/>
          </a:bodyPr>
          <a:lstStyle/>
          <a:p>
            <a:r>
              <a:rPr lang="en-US" sz="5400" b="1" dirty="0"/>
              <a:t>References</a:t>
            </a:r>
          </a:p>
        </p:txBody>
      </p:sp>
      <p:sp>
        <p:nvSpPr>
          <p:cNvPr id="10" name="Text Box 189"/>
          <p:cNvSpPr txBox="1">
            <a:spLocks noChangeArrowheads="1"/>
          </p:cNvSpPr>
          <p:nvPr/>
        </p:nvSpPr>
        <p:spPr bwMode="auto">
          <a:xfrm>
            <a:off x="1645920" y="6675120"/>
            <a:ext cx="11658600" cy="9202495"/>
          </a:xfrm>
          <a:prstGeom prst="rect">
            <a:avLst/>
          </a:prstGeom>
          <a:solidFill>
            <a:schemeClr val="bg1"/>
          </a:solidFill>
          <a:ln w="12700">
            <a:solidFill>
              <a:schemeClr val="accent1">
                <a:lumMod val="75000"/>
              </a:schemeClr>
            </a:solidFill>
          </a:ln>
          <a:effectLst/>
        </p:spPr>
        <p:txBody>
          <a:bodyPr wrap="square" lIns="167628" tIns="167628" rIns="167628" bIns="167628">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200" dirty="0">
                <a:latin typeface="Calibri" pitchFamily="34" charset="0"/>
              </a:rPr>
              <a:t>Identifying the topics in electronic documents has been of interest with increasing volume of various kinds of digital documents including news articles, research papers, blogs, feedbacks, review comments etc. The topics of electronic documents are governed by the characterizing words on them. One can apply Information Retrieval (IR) techniques to identify the characterizing words with the objective of finding thematic topic on the documents. </a:t>
            </a:r>
          </a:p>
          <a:p>
            <a:pPr algn="just" eaLnBrk="1" hangingPunct="1"/>
            <a:r>
              <a:rPr lang="en-US" sz="3200" dirty="0">
                <a:latin typeface="Calibri" pitchFamily="34" charset="0"/>
              </a:rPr>
              <a:t>We have applied one of the IR techniques, TF-IDF to find the characterizing words on a set of research papers. We have worked to review 40 research papers within Data Science sub-area of Computer Science and identify topics in terms of words on those papers other than their listed keywords. We have found TF-IDF approach working good for research papers in our study. We present the visualized outputs of our study.</a:t>
            </a:r>
          </a:p>
          <a:p>
            <a:pPr eaLnBrk="1" hangingPunct="1"/>
            <a:endParaRPr lang="en-US" sz="3200" dirty="0">
              <a:latin typeface="Calibri" pitchFamily="34" charset="0"/>
            </a:endParaRPr>
          </a:p>
          <a:p>
            <a:pPr algn="just" eaLnBrk="1" hangingPunct="1"/>
            <a:r>
              <a:rPr lang="en-US" sz="3200" b="1" u="sng" dirty="0">
                <a:latin typeface="Calibri" pitchFamily="34" charset="0"/>
              </a:rPr>
              <a:t>Objective: </a:t>
            </a:r>
            <a:r>
              <a:rPr lang="en-US" sz="3200" dirty="0">
                <a:latin typeface="Calibri" pitchFamily="34" charset="0"/>
              </a:rPr>
              <a:t>Our study is focused at validating if TF-IDF is an effective tool to identify topics on research papers. We have validated our results against the manual review of the research paper papers.</a:t>
            </a:r>
          </a:p>
        </p:txBody>
      </p:sp>
      <p:sp>
        <p:nvSpPr>
          <p:cNvPr id="32" name="Rectangle 31"/>
          <p:cNvSpPr/>
          <p:nvPr/>
        </p:nvSpPr>
        <p:spPr>
          <a:xfrm>
            <a:off x="1632857" y="5852160"/>
            <a:ext cx="11704320" cy="822960"/>
          </a:xfrm>
          <a:prstGeom prst="rect">
            <a:avLst/>
          </a:prstGeom>
          <a:solidFill>
            <a:schemeClr val="accent1">
              <a:lumMod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r>
              <a:rPr lang="en-US" sz="5400" b="1" dirty="0">
                <a:solidFill>
                  <a:schemeClr val="accent3">
                    <a:lumMod val="20000"/>
                    <a:lumOff val="80000"/>
                  </a:schemeClr>
                </a:solidFill>
              </a:rPr>
              <a:t>Abstract</a:t>
            </a:r>
          </a:p>
        </p:txBody>
      </p:sp>
      <p:sp>
        <p:nvSpPr>
          <p:cNvPr id="15" name="Text Box 194"/>
          <p:cNvSpPr txBox="1">
            <a:spLocks noChangeArrowheads="1"/>
          </p:cNvSpPr>
          <p:nvPr/>
        </p:nvSpPr>
        <p:spPr bwMode="auto">
          <a:xfrm>
            <a:off x="14279880" y="27543050"/>
            <a:ext cx="11704320" cy="12157150"/>
          </a:xfrm>
          <a:prstGeom prst="rect">
            <a:avLst/>
          </a:prstGeom>
          <a:solidFill>
            <a:schemeClr val="bg1"/>
          </a:solidFill>
          <a:ln w="12700">
            <a:solidFill>
              <a:schemeClr val="accent1">
                <a:lumMod val="75000"/>
              </a:schemeClr>
            </a:solidFill>
          </a:ln>
          <a:effectLst/>
        </p:spPr>
        <p:txBody>
          <a:bodyPr lIns="167628" tIns="167628" rIns="167628" bIns="167628">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200" dirty="0">
                <a:latin typeface="Calibri" pitchFamily="34" charset="0"/>
              </a:rPr>
              <a:t>The output from TF-IDF computations presents an obvious challenges in terms of interpreting that output. Having a table with ~12000 entry’s each consisting of 52 different unique values is a daunting task to analyze. We worked towards a logical solution to this challenge by finding top 15 high-weighted frequency terms on each document and store those terms as a set. We combined output from all the documents as union of those sets. We noticed that the sets have few common terms that are relevant to the subject matter such as ‘</a:t>
            </a:r>
            <a:r>
              <a:rPr lang="en-US" sz="3200" i="1" dirty="0">
                <a:latin typeface="Calibri" pitchFamily="34" charset="0"/>
              </a:rPr>
              <a:t>Data</a:t>
            </a:r>
            <a:r>
              <a:rPr lang="en-US" sz="3200" dirty="0">
                <a:latin typeface="Calibri" pitchFamily="34" charset="0"/>
              </a:rPr>
              <a:t>’, ‘</a:t>
            </a:r>
            <a:r>
              <a:rPr lang="en-US" sz="3200" i="1" dirty="0">
                <a:latin typeface="Calibri" pitchFamily="34" charset="0"/>
              </a:rPr>
              <a:t>system</a:t>
            </a:r>
            <a:r>
              <a:rPr lang="en-US" sz="3200" dirty="0">
                <a:latin typeface="Calibri" pitchFamily="34" charset="0"/>
              </a:rPr>
              <a:t>’, ‘</a:t>
            </a:r>
            <a:r>
              <a:rPr lang="en-US" sz="3200" i="1" dirty="0">
                <a:latin typeface="Calibri" pitchFamily="34" charset="0"/>
              </a:rPr>
              <a:t>process</a:t>
            </a:r>
            <a:r>
              <a:rPr lang="en-US" sz="3200" dirty="0">
                <a:latin typeface="Calibri" pitchFamily="34" charset="0"/>
              </a:rPr>
              <a:t>’ etc. but not value-adding to our study. Computing symmetric differences of those sets helped us drop such terms. Finally, we got 531 terms from the dataset of 40 documents that characterize the dataset.</a:t>
            </a:r>
          </a:p>
          <a:p>
            <a:pPr eaLnBrk="1" hangingPunct="1"/>
            <a:endParaRPr lang="en-US" sz="3200" dirty="0">
              <a:latin typeface="Calibri" pitchFamily="34" charset="0"/>
            </a:endParaRPr>
          </a:p>
          <a:p>
            <a:pPr algn="just" eaLnBrk="1" hangingPunct="1"/>
            <a:r>
              <a:rPr lang="en-US" sz="3200" dirty="0">
                <a:latin typeface="Calibri" pitchFamily="34" charset="0"/>
              </a:rPr>
              <a:t>Chart 1 presents the word cloud for the 531 terms obtained from our algorithm. These are the weighted frequency terms across the documents on our dataset. These terms represent the nature of papers on our dataset – algorithm performance, application to image processing, crowd-sourcing tasks and networking domain.</a:t>
            </a:r>
          </a:p>
          <a:p>
            <a:pPr eaLnBrk="1" hangingPunct="1"/>
            <a:endParaRPr lang="en-US" sz="3200" dirty="0">
              <a:latin typeface="Calibri" pitchFamily="34" charset="0"/>
            </a:endParaRPr>
          </a:p>
          <a:p>
            <a:pPr algn="just" eaLnBrk="1" hangingPunct="1"/>
            <a:r>
              <a:rPr lang="en-US" sz="3200" dirty="0">
                <a:latin typeface="Calibri" pitchFamily="34" charset="0"/>
              </a:rPr>
              <a:t>Figure 1 and 2 respectively present the top 20 weighted frequency terms and the top 20 non-weighted frequency terms. </a:t>
            </a:r>
          </a:p>
          <a:p>
            <a:pPr algn="just" eaLnBrk="1" hangingPunct="1"/>
            <a:r>
              <a:rPr lang="en-US" sz="3200" dirty="0">
                <a:latin typeface="Calibri" pitchFamily="34" charset="0"/>
              </a:rPr>
              <a:t>Figure 3 and 4 respectively the distribution of these 20 highest weighted and non-weighted frequency terms in the form of donut chart.</a:t>
            </a:r>
          </a:p>
        </p:txBody>
      </p:sp>
      <p:sp>
        <p:nvSpPr>
          <p:cNvPr id="33" name="Rectangle 32"/>
          <p:cNvSpPr/>
          <p:nvPr/>
        </p:nvSpPr>
        <p:spPr>
          <a:xfrm>
            <a:off x="1645920" y="16535400"/>
            <a:ext cx="11704320" cy="822960"/>
          </a:xfrm>
          <a:prstGeom prst="rect">
            <a:avLst/>
          </a:prstGeom>
          <a:solidFill>
            <a:schemeClr val="tx1">
              <a:lumMod val="75000"/>
              <a:lumOff val="25000"/>
              <a:alpha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r>
              <a:rPr lang="en-US" sz="5400" b="1" dirty="0">
                <a:solidFill>
                  <a:schemeClr val="accent3">
                    <a:lumMod val="20000"/>
                    <a:lumOff val="80000"/>
                  </a:schemeClr>
                </a:solidFill>
              </a:rPr>
              <a:t>Introduction</a:t>
            </a:r>
          </a:p>
        </p:txBody>
      </p:sp>
      <p:sp>
        <p:nvSpPr>
          <p:cNvPr id="13" name="Text Box 192"/>
          <p:cNvSpPr txBox="1">
            <a:spLocks noChangeArrowheads="1"/>
          </p:cNvSpPr>
          <p:nvPr/>
        </p:nvSpPr>
        <p:spPr bwMode="auto">
          <a:xfrm>
            <a:off x="14264640" y="6675120"/>
            <a:ext cx="11704320" cy="9264050"/>
          </a:xfrm>
          <a:prstGeom prst="rect">
            <a:avLst/>
          </a:prstGeom>
          <a:solidFill>
            <a:schemeClr val="bg1"/>
          </a:solidFill>
          <a:ln w="12700">
            <a:solidFill>
              <a:schemeClr val="accent1">
                <a:lumMod val="75000"/>
              </a:schemeClr>
            </a:solidFill>
          </a:ln>
          <a:effectLst/>
        </p:spPr>
        <p:txBody>
          <a:bodyPr lIns="167628" tIns="167628" rIns="167628" bIns="167628">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200" dirty="0">
                <a:latin typeface="Calibri" pitchFamily="34" charset="0"/>
              </a:rPr>
              <a:t>The research papers in Data Science center focus on either the development or improvement of an algorithm or the application of an algorithm to business or scientific domain. We carefully selected a mixed set of 40 papers including papers on algorithm design and their applications. Next, we conducted our study on this dataset.  </a:t>
            </a:r>
          </a:p>
          <a:p>
            <a:pPr algn="just" eaLnBrk="1" hangingPunct="1"/>
            <a:endParaRPr lang="en-US" sz="1900" dirty="0">
              <a:latin typeface="Calibri" pitchFamily="34" charset="0"/>
            </a:endParaRPr>
          </a:p>
          <a:p>
            <a:pPr algn="just" eaLnBrk="1" hangingPunct="1"/>
            <a:r>
              <a:rPr lang="en-US" sz="3200" b="1" u="sng" dirty="0">
                <a:latin typeface="Calibri" pitchFamily="34" charset="0"/>
              </a:rPr>
              <a:t>Algorithm:</a:t>
            </a:r>
          </a:p>
          <a:p>
            <a:pPr algn="just" eaLnBrk="1" hangingPunct="1"/>
            <a:endParaRPr lang="en-US" sz="1700" dirty="0">
              <a:latin typeface="Calibri" pitchFamily="34" charset="0"/>
            </a:endParaRPr>
          </a:p>
          <a:p>
            <a:pPr marL="514350" indent="-514350" algn="just" eaLnBrk="1" hangingPunct="1">
              <a:buAutoNum type="arabicPeriod"/>
            </a:pPr>
            <a:r>
              <a:rPr lang="en-US" sz="3200" dirty="0">
                <a:latin typeface="Calibri" pitchFamily="34" charset="0"/>
              </a:rPr>
              <a:t>Generate text files from the pdf version of the research papers.</a:t>
            </a:r>
          </a:p>
          <a:p>
            <a:pPr marL="514350" indent="-514350" algn="just" eaLnBrk="1" hangingPunct="1">
              <a:buAutoNum type="arabicPeriod"/>
            </a:pPr>
            <a:r>
              <a:rPr lang="en-US" sz="3200" dirty="0">
                <a:latin typeface="Calibri" pitchFamily="34" charset="0"/>
              </a:rPr>
              <a:t>Clean the generated text files to get rid of non-alphabetical characters.</a:t>
            </a:r>
          </a:p>
          <a:p>
            <a:pPr marL="514350" indent="-514350" algn="just" eaLnBrk="1" hangingPunct="1">
              <a:buAutoNum type="arabicPeriod"/>
            </a:pPr>
            <a:r>
              <a:rPr lang="en-US" sz="3200" dirty="0">
                <a:latin typeface="Calibri" pitchFamily="34" charset="0"/>
              </a:rPr>
              <a:t>Remove standard stop-words from the cleaned text files.</a:t>
            </a:r>
          </a:p>
          <a:p>
            <a:pPr marL="514350" indent="-514350" algn="just" eaLnBrk="1" hangingPunct="1">
              <a:buAutoNum type="arabicPeriod"/>
            </a:pPr>
            <a:r>
              <a:rPr lang="en-US" sz="3200" dirty="0">
                <a:latin typeface="Calibri" pitchFamily="34" charset="0"/>
              </a:rPr>
              <a:t>Apply lemmatization to the terms on the text files.</a:t>
            </a:r>
          </a:p>
          <a:p>
            <a:pPr marL="514350" indent="-514350" algn="just" eaLnBrk="1" hangingPunct="1">
              <a:buAutoNum type="arabicPeriod"/>
            </a:pPr>
            <a:r>
              <a:rPr lang="en-US" sz="3200" dirty="0">
                <a:latin typeface="Calibri" pitchFamily="34" charset="0"/>
              </a:rPr>
              <a:t>Calculate TF-IDF for each document on the dataset and store the TF-IDF output in an appropriate data structure for further processing to get visualized results.</a:t>
            </a:r>
          </a:p>
          <a:p>
            <a:pPr marL="514350" indent="-514350" algn="just" eaLnBrk="1" hangingPunct="1">
              <a:buAutoNum type="arabicPeriod"/>
            </a:pPr>
            <a:r>
              <a:rPr lang="en-US" sz="3200" dirty="0">
                <a:latin typeface="Calibri" pitchFamily="34" charset="0"/>
              </a:rPr>
              <a:t>Sort the output, extract top weighted frequency terms as a set for each document, compute symmetrical differences of these sets. </a:t>
            </a:r>
          </a:p>
          <a:p>
            <a:pPr marL="514350" indent="-514350" algn="just" eaLnBrk="1" hangingPunct="1">
              <a:buAutoNum type="arabicPeriod"/>
            </a:pPr>
            <a:r>
              <a:rPr lang="en-US" sz="3200" dirty="0">
                <a:latin typeface="Calibri" pitchFamily="34" charset="0"/>
              </a:rPr>
              <a:t>Generate word cloud for the terms obtained in step-6.</a:t>
            </a:r>
          </a:p>
        </p:txBody>
      </p:sp>
      <p:sp>
        <p:nvSpPr>
          <p:cNvPr id="34" name="Rectangle 33"/>
          <p:cNvSpPr/>
          <p:nvPr/>
        </p:nvSpPr>
        <p:spPr>
          <a:xfrm>
            <a:off x="14264640" y="5852160"/>
            <a:ext cx="11704320" cy="822960"/>
          </a:xfrm>
          <a:prstGeom prst="rect">
            <a:avLst/>
          </a:prstGeom>
          <a:solidFill>
            <a:schemeClr val="tx1">
              <a:lumMod val="75000"/>
              <a:lumOff val="25000"/>
              <a:alpha val="9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r>
              <a:rPr lang="en-US" sz="5400" b="1" dirty="0">
                <a:solidFill>
                  <a:schemeClr val="accent3">
                    <a:lumMod val="20000"/>
                    <a:lumOff val="80000"/>
                  </a:schemeClr>
                </a:solidFill>
              </a:rPr>
              <a:t>Methodology and Algorithm</a:t>
            </a:r>
          </a:p>
        </p:txBody>
      </p:sp>
      <p:sp>
        <p:nvSpPr>
          <p:cNvPr id="12" name="Text Box 191"/>
          <p:cNvSpPr txBox="1">
            <a:spLocks noChangeArrowheads="1"/>
          </p:cNvSpPr>
          <p:nvPr/>
        </p:nvSpPr>
        <p:spPr bwMode="auto">
          <a:xfrm>
            <a:off x="1656553" y="33898130"/>
            <a:ext cx="11704320" cy="5755397"/>
          </a:xfrm>
          <a:prstGeom prst="rect">
            <a:avLst/>
          </a:prstGeom>
          <a:solidFill>
            <a:schemeClr val="bg1"/>
          </a:solidFill>
          <a:ln w="12700">
            <a:solidFill>
              <a:schemeClr val="accent1">
                <a:lumMod val="75000"/>
              </a:schemeClr>
            </a:solidFill>
          </a:ln>
          <a:effectLst/>
        </p:spPr>
        <p:txBody>
          <a:bodyPr lIns="167628" tIns="167628" rIns="167628" bIns="167628">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200" dirty="0">
                <a:latin typeface="Calibri" pitchFamily="34" charset="0"/>
              </a:rPr>
              <a:t>We faced some challenges too with our study. A major challenge was posed by the conversion of pdf version of the papers to the text format. We also noticed that lemmatization only partially works because of the context sensitive nature of some words. We’ll work to fix these issues in future. There were technical challenges too that we could resolve: working towards the solution required careful use of the data structures so as to capture correct information about the documents, the extracted words and the frequencies. We resolved this by using Python Data Frames (matrix format) and using its properties.</a:t>
            </a:r>
          </a:p>
          <a:p>
            <a:pPr eaLnBrk="1" hangingPunct="1"/>
            <a:endParaRPr lang="en-US" sz="3200" dirty="0">
              <a:latin typeface="Calibri" pitchFamily="34" charset="0"/>
            </a:endParaRPr>
          </a:p>
        </p:txBody>
      </p:sp>
      <p:sp>
        <p:nvSpPr>
          <p:cNvPr id="35" name="Rectangle 34"/>
          <p:cNvSpPr/>
          <p:nvPr/>
        </p:nvSpPr>
        <p:spPr>
          <a:xfrm>
            <a:off x="1656553" y="33075170"/>
            <a:ext cx="11704320" cy="822960"/>
          </a:xfrm>
          <a:prstGeom prst="rect">
            <a:avLst/>
          </a:prstGeom>
          <a:solidFill>
            <a:schemeClr val="accent1">
              <a:lumMod val="5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r>
              <a:rPr lang="en-US" sz="5400" b="1" dirty="0">
                <a:solidFill>
                  <a:schemeClr val="accent3">
                    <a:lumMod val="20000"/>
                    <a:lumOff val="80000"/>
                  </a:schemeClr>
                </a:solidFill>
              </a:rPr>
              <a:t>Challenges</a:t>
            </a:r>
          </a:p>
        </p:txBody>
      </p:sp>
      <p:grpSp>
        <p:nvGrpSpPr>
          <p:cNvPr id="2" name="Group 1">
            <a:extLst>
              <a:ext uri="{FF2B5EF4-FFF2-40B4-BE49-F238E27FC236}">
                <a16:creationId xmlns:a16="http://schemas.microsoft.com/office/drawing/2014/main" id="{D6CEA1DD-473A-4D79-91B8-9A0E03362888}"/>
              </a:ext>
            </a:extLst>
          </p:cNvPr>
          <p:cNvGrpSpPr/>
          <p:nvPr/>
        </p:nvGrpSpPr>
        <p:grpSpPr>
          <a:xfrm>
            <a:off x="26883360" y="29839744"/>
            <a:ext cx="11704320" cy="5593472"/>
            <a:chOff x="26883360" y="25146000"/>
            <a:chExt cx="11704320" cy="5593472"/>
          </a:xfrm>
        </p:grpSpPr>
        <p:sp>
          <p:nvSpPr>
            <p:cNvPr id="14" name="Text Box 193"/>
            <p:cNvSpPr txBox="1">
              <a:spLocks noChangeArrowheads="1"/>
            </p:cNvSpPr>
            <p:nvPr/>
          </p:nvSpPr>
          <p:spPr bwMode="auto">
            <a:xfrm>
              <a:off x="26883360" y="25968960"/>
              <a:ext cx="11704320" cy="4770512"/>
            </a:xfrm>
            <a:prstGeom prst="rect">
              <a:avLst/>
            </a:prstGeom>
            <a:solidFill>
              <a:schemeClr val="bg1"/>
            </a:solidFill>
            <a:ln w="12700">
              <a:solidFill>
                <a:schemeClr val="accent1">
                  <a:lumMod val="75000"/>
                </a:schemeClr>
              </a:solidFill>
            </a:ln>
            <a:effectLst/>
          </p:spPr>
          <p:txBody>
            <a:bodyPr lIns="167628" tIns="167628" rIns="167628" bIns="167628">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200" dirty="0">
                  <a:latin typeface="Calibri" pitchFamily="34" charset="0"/>
                </a:rPr>
                <a:t>We aimed to study if TF-IDF approach, when applied to the context of research paper, returns valid characterizing words and do we get to notice a trend  with these keywords which is similar to the one present on the dataset. Our pilot study reveals there are evidences to support the fact that there are underlying characterizing words within the academic research papers are not included within the key word section. We aim to work on the challenges we faced in this study in future and work with a larger dataset to test our approach. We plan to extend our approach to documents classification too.</a:t>
              </a:r>
            </a:p>
          </p:txBody>
        </p:sp>
        <p:sp>
          <p:nvSpPr>
            <p:cNvPr id="36" name="Rectangle 35"/>
            <p:cNvSpPr/>
            <p:nvPr/>
          </p:nvSpPr>
          <p:spPr>
            <a:xfrm>
              <a:off x="26883360" y="25146000"/>
              <a:ext cx="11704320" cy="822960"/>
            </a:xfrm>
            <a:prstGeom prst="rect">
              <a:avLst/>
            </a:prstGeom>
            <a:solidFill>
              <a:schemeClr val="bg2">
                <a:lumMod val="2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r>
                <a:rPr lang="en-US" sz="5400" b="1" dirty="0">
                  <a:solidFill>
                    <a:schemeClr val="accent3">
                      <a:lumMod val="20000"/>
                      <a:lumOff val="80000"/>
                    </a:schemeClr>
                  </a:solidFill>
                </a:rPr>
                <a:t>Discussion and Conclusion</a:t>
              </a:r>
            </a:p>
          </p:txBody>
        </p:sp>
      </p:grpSp>
      <p:sp>
        <p:nvSpPr>
          <p:cNvPr id="11" name="Text Box 190"/>
          <p:cNvSpPr txBox="1">
            <a:spLocks noChangeArrowheads="1"/>
          </p:cNvSpPr>
          <p:nvPr/>
        </p:nvSpPr>
        <p:spPr bwMode="auto">
          <a:xfrm>
            <a:off x="1645920" y="17358360"/>
            <a:ext cx="11704320" cy="14927139"/>
          </a:xfrm>
          <a:prstGeom prst="rect">
            <a:avLst/>
          </a:prstGeom>
          <a:solidFill>
            <a:schemeClr val="bg1"/>
          </a:solidFill>
          <a:ln w="12700">
            <a:solidFill>
              <a:schemeClr val="accent1">
                <a:lumMod val="75000"/>
              </a:schemeClr>
            </a:solidFill>
          </a:ln>
          <a:effectLst/>
        </p:spPr>
        <p:txBody>
          <a:bodyPr lIns="167628" tIns="167628" rIns="167628" bIns="167628">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200" dirty="0">
                <a:latin typeface="Calibri" pitchFamily="34" charset="0"/>
              </a:rPr>
              <a:t>Research papers are different from other textual datasets that are usually not technical in nature. The vocabulary of these datasets is, therefore, quite different from that of the research papers. The IR techniques that work well for non-technical datasets, at times, are not equally applicable to technical documents such as research papers. However, there is an increasing interest in finding the relevant research paper that seem interesting and useful to the researcher. The title of the paper and the listed keywords of the paper are not always sufficient to get an insight into a detailed view of the research paper context.  </a:t>
            </a:r>
            <a:r>
              <a:rPr lang="en-US" sz="3200" dirty="0">
                <a:latin typeface="+mn-lt"/>
              </a:rPr>
              <a:t> </a:t>
            </a:r>
            <a:endParaRPr lang="en-US" sz="3200" b="1" dirty="0">
              <a:latin typeface="+mn-lt"/>
            </a:endParaRPr>
          </a:p>
          <a:p>
            <a:pPr eaLnBrk="1" hangingPunct="1"/>
            <a:endParaRPr lang="en-US" sz="3200" dirty="0">
              <a:latin typeface="+mn-lt"/>
            </a:endParaRPr>
          </a:p>
          <a:p>
            <a:pPr eaLnBrk="1" hangingPunct="1"/>
            <a:r>
              <a:rPr lang="en-US" sz="3200" dirty="0">
                <a:latin typeface="+mn-lt"/>
              </a:rPr>
              <a:t>We explored following research questions on our study:</a:t>
            </a:r>
          </a:p>
          <a:p>
            <a:pPr eaLnBrk="1" hangingPunct="1"/>
            <a:endParaRPr lang="en-US" sz="3200" dirty="0">
              <a:latin typeface="+mn-lt"/>
            </a:endParaRPr>
          </a:p>
          <a:p>
            <a:pPr marL="457200" indent="-457200" algn="just" eaLnBrk="1" hangingPunct="1">
              <a:buFont typeface="Arial" panose="020B0604020202020204" pitchFamily="34" charset="0"/>
              <a:buChar char="•"/>
            </a:pPr>
            <a:r>
              <a:rPr lang="en-US" sz="3200" dirty="0">
                <a:latin typeface="+mn-lt"/>
              </a:rPr>
              <a:t>Within the context of the research paper, do the retrieved words characterize the paper itself?</a:t>
            </a:r>
          </a:p>
          <a:p>
            <a:pPr marL="457200" indent="-457200" algn="just" eaLnBrk="1" hangingPunct="1">
              <a:buFont typeface="Arial" panose="020B0604020202020204" pitchFamily="34" charset="0"/>
              <a:buChar char="•"/>
            </a:pPr>
            <a:r>
              <a:rPr lang="en-US" sz="3200" dirty="0">
                <a:latin typeface="+mn-lt"/>
              </a:rPr>
              <a:t>Are there trends to be found with reference to the </a:t>
            </a:r>
            <a:r>
              <a:rPr lang="en-US" sz="3200" dirty="0"/>
              <a:t>retrieved </a:t>
            </a:r>
            <a:r>
              <a:rPr lang="en-US" sz="3200" dirty="0">
                <a:latin typeface="+mn-lt"/>
              </a:rPr>
              <a:t>words and the subtopics of the paper?</a:t>
            </a:r>
          </a:p>
          <a:p>
            <a:pPr eaLnBrk="1" hangingPunct="1"/>
            <a:endParaRPr lang="en-US" sz="3200" dirty="0">
              <a:latin typeface="+mn-lt"/>
            </a:endParaRPr>
          </a:p>
          <a:p>
            <a:pPr algn="just" eaLnBrk="1" hangingPunct="1"/>
            <a:r>
              <a:rPr lang="en-US" sz="3200" dirty="0">
                <a:latin typeface="+mn-lt"/>
              </a:rPr>
              <a:t>We decided to work with TF-IDF approach of the available IR techniques for its simplicity and meaningful coherence to the aim of our study. TF-IDF approach, as applied to a dataset of documents, can be understood as:</a:t>
            </a:r>
          </a:p>
          <a:p>
            <a:pPr eaLnBrk="1" hangingPunct="1"/>
            <a:endParaRPr lang="en-US" sz="2000" dirty="0">
              <a:latin typeface="+mn-lt"/>
            </a:endParaRPr>
          </a:p>
          <a:p>
            <a:pPr marL="457200" indent="-457200" algn="just" eaLnBrk="1" hangingPunct="1">
              <a:buFont typeface="Arial" panose="020B0604020202020204" pitchFamily="34" charset="0"/>
              <a:buChar char="•"/>
            </a:pPr>
            <a:r>
              <a:rPr lang="en-US" sz="3200" b="1" u="sng" dirty="0">
                <a:latin typeface="+mn-lt"/>
              </a:rPr>
              <a:t>Term-Frequency (TF):</a:t>
            </a:r>
            <a:r>
              <a:rPr lang="en-US" sz="3200" dirty="0">
                <a:latin typeface="+mn-lt"/>
              </a:rPr>
              <a:t> is the frequency of each term in a document.</a:t>
            </a:r>
          </a:p>
          <a:p>
            <a:pPr marL="457200" indent="-457200" algn="just" eaLnBrk="1" hangingPunct="1">
              <a:buFont typeface="Arial" panose="020B0604020202020204" pitchFamily="34" charset="0"/>
              <a:buChar char="•"/>
            </a:pPr>
            <a:r>
              <a:rPr lang="en-US" sz="3200" b="1" u="sng" dirty="0">
                <a:latin typeface="+mn-lt"/>
              </a:rPr>
              <a:t>Inverse Document Frequency (IDF):</a:t>
            </a:r>
            <a:r>
              <a:rPr lang="en-US" sz="3200" dirty="0">
                <a:latin typeface="+mn-lt"/>
              </a:rPr>
              <a:t> is a measure of uniqueness of a term to a document with respect to a dataset of documents.</a:t>
            </a:r>
          </a:p>
          <a:p>
            <a:pPr marL="457200" indent="-457200" algn="just" eaLnBrk="1" hangingPunct="1">
              <a:buFont typeface="Arial" panose="020B0604020202020204" pitchFamily="34" charset="0"/>
              <a:buChar char="•"/>
            </a:pPr>
            <a:r>
              <a:rPr lang="en-US" sz="3200" b="1" u="sng" dirty="0">
                <a:latin typeface="+mn-lt"/>
              </a:rPr>
              <a:t>TF-IDF:</a:t>
            </a:r>
            <a:r>
              <a:rPr lang="en-US" sz="3200" dirty="0">
                <a:latin typeface="+mn-lt"/>
              </a:rPr>
              <a:t> being the product of TF and IDF, it serves as a measure of the term frequencies weighted by the terms unique to the dataset. </a:t>
            </a:r>
          </a:p>
        </p:txBody>
      </p:sp>
      <p:sp>
        <p:nvSpPr>
          <p:cNvPr id="45" name="Rectangle 44"/>
          <p:cNvSpPr/>
          <p:nvPr/>
        </p:nvSpPr>
        <p:spPr>
          <a:xfrm>
            <a:off x="14279880" y="26720090"/>
            <a:ext cx="11704320" cy="822960"/>
          </a:xfrm>
          <a:prstGeom prst="rect">
            <a:avLst/>
          </a:prstGeom>
          <a:solidFill>
            <a:schemeClr val="bg2">
              <a:lumMod val="2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83814" tIns="41907" rIns="83814" bIns="41907" rtlCol="0" anchor="ctr"/>
          <a:lstStyle/>
          <a:p>
            <a:pPr algn="ctr"/>
            <a:r>
              <a:rPr lang="en-US" sz="5400" b="1" dirty="0">
                <a:solidFill>
                  <a:schemeClr val="accent3">
                    <a:lumMod val="20000"/>
                    <a:lumOff val="80000"/>
                  </a:schemeClr>
                </a:solidFill>
              </a:rPr>
              <a:t>Observations and Results</a:t>
            </a:r>
          </a:p>
        </p:txBody>
      </p:sp>
      <p:sp>
        <p:nvSpPr>
          <p:cNvPr id="51" name="Text Box 180"/>
          <p:cNvSpPr txBox="1">
            <a:spLocks noChangeArrowheads="1"/>
          </p:cNvSpPr>
          <p:nvPr/>
        </p:nvSpPr>
        <p:spPr bwMode="auto">
          <a:xfrm>
            <a:off x="30164568" y="13639800"/>
            <a:ext cx="6384877" cy="51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800" b="1" dirty="0">
                <a:latin typeface="Calibri" pitchFamily="34" charset="0"/>
              </a:rPr>
              <a:t>Figure 1.</a:t>
            </a:r>
            <a:r>
              <a:rPr lang="en-US" sz="2800" dirty="0">
                <a:latin typeface="Calibri" pitchFamily="34" charset="0"/>
              </a:rPr>
              <a:t> Top 20 weighted frequency terms</a:t>
            </a:r>
          </a:p>
        </p:txBody>
      </p:sp>
      <p:sp>
        <p:nvSpPr>
          <p:cNvPr id="37" name="Text Box 180"/>
          <p:cNvSpPr txBox="1">
            <a:spLocks noChangeArrowheads="1"/>
          </p:cNvSpPr>
          <p:nvPr/>
        </p:nvSpPr>
        <p:spPr bwMode="auto">
          <a:xfrm>
            <a:off x="15664854" y="25392480"/>
            <a:ext cx="8854271" cy="51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800" b="1" dirty="0">
                <a:latin typeface="Calibri" pitchFamily="34" charset="0"/>
              </a:rPr>
              <a:t>Chart 1.</a:t>
            </a:r>
            <a:r>
              <a:rPr lang="en-US" sz="2800" dirty="0">
                <a:latin typeface="Calibri" pitchFamily="34" charset="0"/>
              </a:rPr>
              <a:t> Word Cloud of 531 high-weighted frequency words</a:t>
            </a:r>
          </a:p>
        </p:txBody>
      </p:sp>
      <p:pic>
        <p:nvPicPr>
          <p:cNvPr id="8" name="Picture 7">
            <a:extLst>
              <a:ext uri="{FF2B5EF4-FFF2-40B4-BE49-F238E27FC236}">
                <a16:creationId xmlns:a16="http://schemas.microsoft.com/office/drawing/2014/main" id="{0A8D15A5-F97B-493E-B4A5-3EECB57C6C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20800" y="16762130"/>
            <a:ext cx="12999383" cy="8155270"/>
          </a:xfrm>
          <a:prstGeom prst="rect">
            <a:avLst/>
          </a:prstGeom>
        </p:spPr>
      </p:pic>
      <p:sp>
        <p:nvSpPr>
          <p:cNvPr id="31" name="TextBox 30">
            <a:extLst>
              <a:ext uri="{FF2B5EF4-FFF2-40B4-BE49-F238E27FC236}">
                <a16:creationId xmlns:a16="http://schemas.microsoft.com/office/drawing/2014/main" id="{BCC01AD6-794F-41C5-AE15-1A259063C3CC}"/>
              </a:ext>
            </a:extLst>
          </p:cNvPr>
          <p:cNvSpPr txBox="1"/>
          <p:nvPr/>
        </p:nvSpPr>
        <p:spPr>
          <a:xfrm>
            <a:off x="26883360" y="37002702"/>
            <a:ext cx="11566114" cy="3154698"/>
          </a:xfrm>
          <a:prstGeom prst="rect">
            <a:avLst/>
          </a:prstGeom>
          <a:noFill/>
        </p:spPr>
        <p:txBody>
          <a:bodyPr wrap="square" lIns="83814" tIns="83814" rIns="83814" bIns="83814" numCol="1" spcCol="419070" rtlCol="0">
            <a:spAutoFit/>
          </a:bodyPr>
          <a:lstStyle/>
          <a:p>
            <a:pPr marL="419070" indent="-419070" algn="just">
              <a:buFont typeface="+mj-lt"/>
              <a:buAutoNum type="arabicPeriod"/>
            </a:pPr>
            <a:r>
              <a:rPr lang="en-US" dirty="0"/>
              <a:t>E. Sierra, D. A. </a:t>
            </a:r>
            <a:r>
              <a:rPr lang="en-US" dirty="0" err="1"/>
              <a:t>Navastara</a:t>
            </a:r>
            <a:r>
              <a:rPr lang="en-US" dirty="0"/>
              <a:t> and D. </a:t>
            </a:r>
            <a:r>
              <a:rPr lang="en-US" dirty="0" err="1"/>
              <a:t>Purwitasari</a:t>
            </a:r>
            <a:r>
              <a:rPr lang="en-US" dirty="0"/>
              <a:t>, "A Combination of Term Frequency and Topic Modeling with Public Attention to Detect Hot Topics on Texts of Indonesian Online News," 2023 IEEE 7th International Conference on Information Technology, Information Systems and Electrical Engineering (ICITISEE), </a:t>
            </a:r>
            <a:r>
              <a:rPr lang="en-US" dirty="0" err="1"/>
              <a:t>Purwokerto</a:t>
            </a:r>
            <a:r>
              <a:rPr lang="en-US" dirty="0"/>
              <a:t>, Indonesia, 2023, pp. 363-368, </a:t>
            </a:r>
            <a:r>
              <a:rPr lang="en-US" dirty="0" err="1"/>
              <a:t>doi</a:t>
            </a:r>
            <a:r>
              <a:rPr lang="en-US" dirty="0"/>
              <a:t>: 10.1109/ICITISEE58992.2023.10404337.</a:t>
            </a:r>
          </a:p>
          <a:p>
            <a:pPr marL="419070" indent="-419070" algn="just">
              <a:buFont typeface="+mj-lt"/>
              <a:buAutoNum type="arabicPeriod"/>
            </a:pPr>
            <a:r>
              <a:rPr lang="en-US" dirty="0"/>
              <a:t>Kim, SW., Gil, JM. Research paper classification systems based on TF-IDF and LDA schemes. Hum. Cent. </a:t>
            </a:r>
            <a:r>
              <a:rPr lang="en-US" dirty="0" err="1"/>
              <a:t>Comput</a:t>
            </a:r>
            <a:r>
              <a:rPr lang="en-US" dirty="0"/>
              <a:t>. Inf. Sci. 9, 30 (2019). https://doi.org/10.1186/s13673-019-0192-7 </a:t>
            </a:r>
          </a:p>
          <a:p>
            <a:pPr marL="419070" indent="-419070" algn="just">
              <a:buFont typeface="+mj-lt"/>
              <a:buAutoNum type="arabicPeriod"/>
            </a:pPr>
            <a:r>
              <a:rPr lang="en-US" dirty="0"/>
              <a:t>https://programminghistorian.org/en/lessons/analyzing-documents-with-tfidf</a:t>
            </a:r>
          </a:p>
          <a:p>
            <a:pPr marL="419070" indent="-419070" algn="just">
              <a:buFont typeface="+mj-lt"/>
              <a:buAutoNum type="arabicPeriod"/>
            </a:pPr>
            <a:r>
              <a:rPr lang="en-US" dirty="0"/>
              <a:t>Zhu, </a:t>
            </a:r>
            <a:r>
              <a:rPr lang="en-US" dirty="0" err="1"/>
              <a:t>Zhiliang</a:t>
            </a:r>
            <a:r>
              <a:rPr lang="en-US" dirty="0"/>
              <a:t> &amp; Liang, </a:t>
            </a:r>
            <a:r>
              <a:rPr lang="en-US" dirty="0" err="1"/>
              <a:t>Jie</a:t>
            </a:r>
            <a:r>
              <a:rPr lang="en-US" dirty="0"/>
              <a:t> &amp; Li, </a:t>
            </a:r>
            <a:r>
              <a:rPr lang="en-US" dirty="0" err="1"/>
              <a:t>Deyang</a:t>
            </a:r>
            <a:r>
              <a:rPr lang="en-US" dirty="0"/>
              <a:t> &amp; Yu, Hai &amp; </a:t>
            </a:r>
            <a:r>
              <a:rPr lang="en-US" dirty="0" err="1"/>
              <a:t>Guoqi</a:t>
            </a:r>
            <a:r>
              <a:rPr lang="en-US" dirty="0"/>
              <a:t>, Liu. (2019). Hot Topic Detection Based on a Refined TF-IDF Algorithm. IEEE Access. PP. 1-1. 10.1109/ACCESS.2019.2893980</a:t>
            </a:r>
          </a:p>
          <a:p>
            <a:pPr marL="419070" indent="-419070">
              <a:buFont typeface="+mj-lt"/>
              <a:buAutoNum type="arabicPeriod"/>
            </a:pPr>
            <a:endParaRPr lang="en-US" sz="1600" dirty="0"/>
          </a:p>
          <a:p>
            <a:pPr marL="419070" indent="-419070">
              <a:buFont typeface="+mj-lt"/>
              <a:buAutoNum type="arabicPeriod"/>
            </a:pPr>
            <a:endParaRPr lang="en-US" sz="1600" dirty="0"/>
          </a:p>
        </p:txBody>
      </p:sp>
      <p:pic>
        <p:nvPicPr>
          <p:cNvPr id="18" name="Picture 17">
            <a:extLst>
              <a:ext uri="{FF2B5EF4-FFF2-40B4-BE49-F238E27FC236}">
                <a16:creationId xmlns:a16="http://schemas.microsoft.com/office/drawing/2014/main" id="{8D3DB939-A710-4B7B-A50E-B62211779E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570207" y="14857129"/>
            <a:ext cx="11035194" cy="7698071"/>
          </a:xfrm>
          <a:prstGeom prst="rect">
            <a:avLst/>
          </a:prstGeom>
        </p:spPr>
      </p:pic>
      <p:pic>
        <p:nvPicPr>
          <p:cNvPr id="22" name="Picture 21">
            <a:extLst>
              <a:ext uri="{FF2B5EF4-FFF2-40B4-BE49-F238E27FC236}">
                <a16:creationId xmlns:a16="http://schemas.microsoft.com/office/drawing/2014/main" id="{027C9216-2F21-4182-B8A5-E5001C4E72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32000" y="5939424"/>
            <a:ext cx="11017473" cy="7383460"/>
          </a:xfrm>
          <a:prstGeom prst="rect">
            <a:avLst/>
          </a:prstGeom>
        </p:spPr>
      </p:pic>
      <p:sp>
        <p:nvSpPr>
          <p:cNvPr id="43" name="Text Box 180">
            <a:extLst>
              <a:ext uri="{FF2B5EF4-FFF2-40B4-BE49-F238E27FC236}">
                <a16:creationId xmlns:a16="http://schemas.microsoft.com/office/drawing/2014/main" id="{5CAE365A-A22C-4A1D-9FEE-A52022E9A481}"/>
              </a:ext>
            </a:extLst>
          </p:cNvPr>
          <p:cNvSpPr txBox="1">
            <a:spLocks noChangeArrowheads="1"/>
          </p:cNvSpPr>
          <p:nvPr/>
        </p:nvSpPr>
        <p:spPr bwMode="auto">
          <a:xfrm>
            <a:off x="29543081" y="22783800"/>
            <a:ext cx="7089044" cy="51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800" b="1" dirty="0">
                <a:latin typeface="Calibri" pitchFamily="34" charset="0"/>
              </a:rPr>
              <a:t>Figure 2.</a:t>
            </a:r>
            <a:r>
              <a:rPr lang="en-US" sz="2800" dirty="0">
                <a:latin typeface="Calibri" pitchFamily="34" charset="0"/>
              </a:rPr>
              <a:t> Top 20 non-weighted frequency terms</a:t>
            </a:r>
          </a:p>
        </p:txBody>
      </p:sp>
      <p:pic>
        <p:nvPicPr>
          <p:cNvPr id="28" name="Picture 27">
            <a:extLst>
              <a:ext uri="{FF2B5EF4-FFF2-40B4-BE49-F238E27FC236}">
                <a16:creationId xmlns:a16="http://schemas.microsoft.com/office/drawing/2014/main" id="{EFF13B62-394E-45C3-A8B0-8320D8D412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604200" y="23860347"/>
            <a:ext cx="4724400" cy="4361317"/>
          </a:xfrm>
          <a:prstGeom prst="rect">
            <a:avLst/>
          </a:prstGeom>
        </p:spPr>
      </p:pic>
      <p:sp>
        <p:nvSpPr>
          <p:cNvPr id="46" name="Text Box 180">
            <a:extLst>
              <a:ext uri="{FF2B5EF4-FFF2-40B4-BE49-F238E27FC236}">
                <a16:creationId xmlns:a16="http://schemas.microsoft.com/office/drawing/2014/main" id="{C8D161AE-06B8-4207-B85F-FCEC67FE67B5}"/>
              </a:ext>
            </a:extLst>
          </p:cNvPr>
          <p:cNvSpPr txBox="1">
            <a:spLocks noChangeArrowheads="1"/>
          </p:cNvSpPr>
          <p:nvPr/>
        </p:nvSpPr>
        <p:spPr bwMode="auto">
          <a:xfrm>
            <a:off x="27446391" y="28270200"/>
            <a:ext cx="4862409" cy="946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800" b="1" dirty="0">
                <a:latin typeface="Calibri" pitchFamily="34" charset="0"/>
              </a:rPr>
              <a:t>Figure 3.</a:t>
            </a:r>
            <a:r>
              <a:rPr lang="en-US" sz="2800" dirty="0">
                <a:latin typeface="Calibri" pitchFamily="34" charset="0"/>
              </a:rPr>
              <a:t> Top 20 weighted terms</a:t>
            </a:r>
          </a:p>
          <a:p>
            <a:pPr algn="ctr" eaLnBrk="1" hangingPunct="1"/>
            <a:r>
              <a:rPr lang="en-US" sz="2800" dirty="0">
                <a:latin typeface="Calibri" pitchFamily="34" charset="0"/>
              </a:rPr>
              <a:t>distribution</a:t>
            </a:r>
          </a:p>
        </p:txBody>
      </p:sp>
      <p:sp>
        <p:nvSpPr>
          <p:cNvPr id="47" name="Text Box 180">
            <a:extLst>
              <a:ext uri="{FF2B5EF4-FFF2-40B4-BE49-F238E27FC236}">
                <a16:creationId xmlns:a16="http://schemas.microsoft.com/office/drawing/2014/main" id="{CF2AF58D-77B3-43DD-B491-BCC7EED87DEA}"/>
              </a:ext>
            </a:extLst>
          </p:cNvPr>
          <p:cNvSpPr txBox="1">
            <a:spLocks noChangeArrowheads="1"/>
          </p:cNvSpPr>
          <p:nvPr/>
        </p:nvSpPr>
        <p:spPr bwMode="auto">
          <a:xfrm>
            <a:off x="33127156" y="28221664"/>
            <a:ext cx="5540480" cy="946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814" tIns="41907" rIns="83814" bIns="41907">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800" b="1" dirty="0">
                <a:latin typeface="Calibri" pitchFamily="34" charset="0"/>
              </a:rPr>
              <a:t>Figure 4.</a:t>
            </a:r>
            <a:r>
              <a:rPr lang="en-US" sz="2800" dirty="0">
                <a:latin typeface="Calibri" pitchFamily="34" charset="0"/>
              </a:rPr>
              <a:t> Top 20 non-weighted terms</a:t>
            </a:r>
          </a:p>
          <a:p>
            <a:pPr algn="ctr" eaLnBrk="1" hangingPunct="1"/>
            <a:r>
              <a:rPr lang="en-US" sz="2800" dirty="0">
                <a:latin typeface="Calibri" pitchFamily="34" charset="0"/>
              </a:rPr>
              <a:t>distribution</a:t>
            </a:r>
          </a:p>
        </p:txBody>
      </p:sp>
      <p:pic>
        <p:nvPicPr>
          <p:cNvPr id="40" name="Picture 39">
            <a:extLst>
              <a:ext uri="{FF2B5EF4-FFF2-40B4-BE49-F238E27FC236}">
                <a16:creationId xmlns:a16="http://schemas.microsoft.com/office/drawing/2014/main" id="{DEEF19A1-565C-4778-87DA-0FEABA52A0C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497227" y="23860347"/>
            <a:ext cx="4862408" cy="4387855"/>
          </a:xfrm>
          <a:prstGeom prst="rect">
            <a:avLst/>
          </a:prstGeom>
        </p:spPr>
      </p:pic>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31">
      <a:dk1>
        <a:sysClr val="windowText" lastClr="000000"/>
      </a:dk1>
      <a:lt1>
        <a:sysClr val="window" lastClr="FFFFFF"/>
      </a:lt1>
      <a:dk2>
        <a:srgbClr val="323232"/>
      </a:dk2>
      <a:lt2>
        <a:srgbClr val="E5C243"/>
      </a:lt2>
      <a:accent1>
        <a:srgbClr val="D55816"/>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6117</TotalTime>
  <Words>1321</Words>
  <Application>Microsoft Office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2</vt:i4>
      </vt:variant>
      <vt:variant>
        <vt:lpstr>Theme</vt:lpstr>
      </vt:variant>
      <vt:variant>
        <vt:i4>5</vt:i4>
      </vt:variant>
      <vt:variant>
        <vt:lpstr>Slide Titles</vt:lpstr>
      </vt:variant>
      <vt:variant>
        <vt:i4>1</vt:i4>
      </vt:variant>
    </vt:vector>
  </HeadingPairs>
  <TitlesOfParts>
    <vt:vector size="8" baseType="lpstr">
      <vt:lpstr>Arial</vt:lpstr>
      <vt:lpstr>Calibri</vt:lpstr>
      <vt:lpstr>5_Office Theme</vt:lpstr>
      <vt:lpstr>1_Office Theme</vt:lpstr>
      <vt:lpstr>2_Office Theme</vt:lpstr>
      <vt:lpstr>3_Office Theme</vt:lpstr>
      <vt:lpstr>4_Office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44x44</dc:title>
  <dc:creator>Jay Larson</dc:creator>
  <dc:description>Quality poster printing
www.genigraphics.com
1-800-790-4001</dc:description>
  <cp:lastModifiedBy>Richa Sharma</cp:lastModifiedBy>
  <cp:revision>110</cp:revision>
  <cp:lastPrinted>2013-02-12T02:21:55Z</cp:lastPrinted>
  <dcterms:created xsi:type="dcterms:W3CDTF">2013-02-10T21:14:48Z</dcterms:created>
  <dcterms:modified xsi:type="dcterms:W3CDTF">2024-04-19T06:52:14Z</dcterms:modified>
</cp:coreProperties>
</file>